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yêu cầu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FR (chức năng)</c:v>
                  </c:pt>
                  <c:pt idx="1">
                    <c:v>BR (nghiệp vụ)</c:v>
                  </c:pt>
                  <c:pt idx="2">
                    <c:v>NFR</c:v>
                  </c:pt>
                  <c:pt idx="3">
                    <c:v>DR (dữ liệu)</c:v>
                  </c:pt>
                  <c:pt idx="4">
                    <c:v>IF (tích hợp)</c:v>
                  </c:pt>
                  <c:pt idx="5">
                    <c:v>ACC (nghiệm thu)</c:v>
                  </c:pt>
                  <c:pt idx="6">
                    <c:v>OPS (vận hành)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12</c:v>
                </c:pt>
                <c:pt idx="2">
                  <c:v>12</c:v>
                </c:pt>
                <c:pt idx="3">
                  <c:v>10</c:v>
                </c:pt>
                <c:pt idx="4">
                  <c:v>6</c:v>
                </c:pt>
                <c:pt idx="5">
                  <c:v>8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Build màn hình</c:v>
                  </c:pt>
                  <c:pt idx="1">
                    <c:v>Engine</c:v>
                  </c:pt>
                  <c:pt idx="2">
                    <c:v>Thiết kế</c:v>
                  </c:pt>
                  <c:pt idx="3">
                    <c:v>NFR</c:v>
                  </c:pt>
                  <c:pt idx="4">
                    <c:v>Migration</c:v>
                  </c:pt>
                  <c:pt idx="5">
                    <c:v>Test</c:v>
                  </c:pt>
                  <c:pt idx="6">
                    <c:v>Hạ tầng+Training</c:v>
                  </c:pt>
                  <c:pt idx="7">
                    <c:v>PM/PMO</c:v>
                  </c:pt>
                  <c:pt idx="8">
                    <c:v>Dự phòng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243.5</c:v>
                </c:pt>
                <c:pt idx="1">
                  <c:v>148</c:v>
                </c:pt>
                <c:pt idx="2">
                  <c:v>56</c:v>
                </c:pt>
                <c:pt idx="3">
                  <c:v>40</c:v>
                </c:pt>
                <c:pt idx="4">
                  <c:v>30</c:v>
                </c:pt>
                <c:pt idx="5">
                  <c:v>58</c:v>
                </c:pt>
                <c:pt idx="6">
                  <c:v>30</c:v>
                </c:pt>
                <c:pt idx="7">
                  <c:v>90.8</c:v>
                </c:pt>
                <c:pt idx="8">
                  <c:v>69.6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4114800" cy="41148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A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ĐỀ XUẤT GIẢI PHÁP (BẢN CHUẨN RFP)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hỗ trợ nghiệp vụ Food Cold-Chain (YCCMS)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ứng RFP YCL-RFP-2026-01 (v2.0) · HACCP · 物流2024 · FEFO · 日付逆転 · Truy xuất 3 lane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Khách: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ユキコールドロジスティクス株式会社 (mô phỏng)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đề xuất: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 — Sun VN02 · PL: Thanh Ta · 2026-10-02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20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theo S5-01: ① Tổng quan ② Tuân thủ 88 yêu cầu ③ Kiến trúc ④ Kế hoạch ⑤ Test/Migration ⑥ Câu hỏi/Rủi ro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TỔNG QUAN &amp; KHÁC BIỆT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Sun* phù hợp với bài toán Yuki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594360" cy="5943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892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Hiểu đúng nghiệp vụ Nhật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rõ nghĩa vụ pháp định / tập quán / policy nội bộ Yuki — tránh 4 'lỗi nghiêm trọng' RFP cảnh báo.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81928" y="160020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874520"/>
            <a:ext cx="594360" cy="5943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56248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892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Bám danh mục yêu cầu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feature gắn thẳng mã FR/BR/NFR; ma trận tuân thủ 88 yêu cầu, testable.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14800"/>
            <a:ext cx="594360" cy="5943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133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theo chốt kiểm soát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theo chuỗi loại trừ, event bất biến, maker-checker, 隔離 khóa tồn — đúng cột sống RFP.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81928" y="384048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114800"/>
            <a:ext cx="594360" cy="5943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56248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4133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Sẵn sàng nghiệm thu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cho 8 cổng ACC + fixtures R-06 (edge cases), không chỉ happy path.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HIỂU NGHIỆP VỤ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điểm quyết định &amp; 4 lỗi nghiêm trọng cần tránh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FEFO (cùng HSD → FIFO)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871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Cận hạn ra trước; FIFO chỉ tie-break. Lô 隔離 không đủ điều kiện.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572768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47088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loại hạn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871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消費期限 = HARD STOP; 賞味期限 = cảnh báo. Khai theo SKU.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572768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47088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70848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日付逆転 theo cặp khách-SKU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871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lần giao gần nhất của đúng cặp khách-SKU, KHÔNG so hôm nay.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858768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33088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– 1/2 là tập quán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731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商慣習, KHÔNG phải luật → chỉ cảnh báo; dòng chưa chốt giữ business-review.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1688" y="3858768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33088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1772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Giờ lái là ràng buộc cứng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7731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960h/3.300h/284h/13-15h/nghỉ≥9h/liên tục≤4h → vi phạm cấm publish.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56448" y="3858768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133088"/>
            <a:ext cx="548640" cy="54864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70848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xuất 3 lane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7731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Gạo &amp; bò pháp định; nội bộ tùy chọn. Bò 9 số → business-review.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TUÂN THỦ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trận tuân thủ — 88 yêu cầu (FR/BR/NFR/DR/IF/ACC/OPS)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DFF3E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0248" y="155448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6168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Assumption*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3568" y="155448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6500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comply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66928" y="3200400"/>
          <a:ext cx="7406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8183880" y="3200400"/>
            <a:ext cx="3429000" cy="3291840"/>
          </a:xfrm>
          <a:prstGeom prst="roundRect">
            <a:avLst>
              <a:gd name="adj" fmla="val 194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41248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*3 Assumption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7033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IF-ERP-01: đặc tả ERP do Yuki cấp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IF-MAP-01: license mapping service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IF-IDP-01: IdP/OIDC doanh nghiệp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nêu scope/effort/cost theo S5-01.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KIẾN TRÚC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trúc, data model &amp; chốt kiểm soát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10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bất biến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8716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state/master/approval là event append-only; sửa = reversal/new version, cấm overwrite.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57276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1810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Maker-checker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8716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lập ≠ người duyệt; blind count + duyệt 2 cấp; RBAC tối thiểu quyền.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57276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70848" y="1810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隔離 khóa tồn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8716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available→quarantine→release/scrap; cấm nhảy bước/xóa cứng.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85876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nguyên tử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7316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loại trừ 6 bước; 2 request song song không over-allocate.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1688" y="385876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177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chuẩn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77316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SFTP · logger CSV(hash) · mapping · OIDC · mail · archive manifest SHA-256.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56448" y="385876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70848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&amp; NFR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77316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SSO/MFA/mã hóa · p95 @80 user · BCP RTO4h/RPO15′ · WCAG 2.2 AA · observability.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ĐIỂM NHẤN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Allocation: chuỗi loại trừ cố định (FR-OUT-02)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46504"/>
            <a:ext cx="438912" cy="438912"/>
          </a:xfrm>
          <a:prstGeom prst="ellipse">
            <a:avLst/>
          </a:prstGeom>
          <a:solidFill>
            <a:srgbClr val="B23A48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91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消費期限 quá hạn (HARD STOP)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32688" y="2240280"/>
            <a:ext cx="146304" cy="128016"/>
          </a:xfrm>
          <a:prstGeom prst="downArrow">
            <a:avLst/>
          </a:prstGeom>
          <a:solidFill>
            <a:srgbClr val="5A6B7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68296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23160"/>
            <a:ext cx="438912" cy="43891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3682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 dải nhiệt (BR-TEMP-02)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" y="2916936"/>
            <a:ext cx="146304" cy="128016"/>
          </a:xfrm>
          <a:prstGeom prst="downArrow">
            <a:avLst/>
          </a:prstGeom>
          <a:solidFill>
            <a:srgbClr val="5A6B7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44952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99816"/>
            <a:ext cx="438912" cy="43891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099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0449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隔離 (FR-INV-05)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32688" y="3593592"/>
            <a:ext cx="146304" cy="128016"/>
          </a:xfrm>
          <a:prstGeom prst="downArrow">
            <a:avLst/>
          </a:prstGeom>
          <a:solidFill>
            <a:srgbClr val="5A6B7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721608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776472"/>
            <a:ext cx="438912" cy="43891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776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7216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phạm delivery window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32688" y="4270248"/>
            <a:ext cx="146304" cy="128016"/>
          </a:xfrm>
          <a:prstGeom prst="downArrow">
            <a:avLst/>
          </a:prstGeom>
          <a:solidFill>
            <a:srgbClr val="5A6B7B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398264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453128"/>
            <a:ext cx="438912" cy="43891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3982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日付逆転 (cặp khách-SKU)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32688" y="4946904"/>
            <a:ext cx="146304" cy="128016"/>
          </a:xfrm>
          <a:prstGeom prst="downArrow">
            <a:avLst/>
          </a:prstGeom>
          <a:solidFill>
            <a:srgbClr val="5A6B7B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074920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" y="5129784"/>
            <a:ext cx="438912" cy="43891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2960" y="5129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50749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lại: FEFO (cùng HSD→FIFO)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0" y="1691640"/>
            <a:ext cx="3840480" cy="448056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00100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fixture (R-06)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001000" y="228600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CUS-003 / CHI-002 đã nhận HSD 2026-09-20.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HSD 2026-09-18 → CHẶN (日付逆転), dù hôm nay còn xa HSD.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CUS-004 cùng SKU, không có lịch sử → không mượn lịch sử CUS-003.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消費期限 = hard stop; 賞味 window = cảnh báo.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ĐIỂM NHẤN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Lập tuyến: ràng buộc giờ lái 2024 (số Yuki)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4389120"/>
          </a:xfrm>
          <a:prstGeom prst="roundRect">
            <a:avLst>
              <a:gd name="adj" fmla="val 1458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constraints (FR-SCH-02)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超勤 ≤ 960h/năm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拘束 ≤ 3.300h/năm · ≤ 284h/tháng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≤ 13h (tối đa 15h)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Nghỉ ≥ 11h mục tiêu / ≥ 9h tối thiểu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Lái TB ≤ 9h/ngày (2 ngày), ≤ 44h/tuần (2 tuần)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Lái liên tục ≤ 4h → chèn nghỉ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389120"/>
          </a:xfrm>
          <a:prstGeom prst="roundRect">
            <a:avLst>
              <a:gd name="adj" fmla="val 145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2468880"/>
            <a:ext cx="530352" cy="530352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450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Cấm publish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834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phạm → không chốt được lịch, nêu chính xác khoảng giờ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3566160"/>
            <a:ext cx="530352" cy="530352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83680" y="3566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rule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Tuyến publish gắn version bản quy tắc; đổi sau cần lý do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4663440"/>
            <a:ext cx="530352" cy="530352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4663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645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Tách sự cố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5029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nạn/hỏng xe/thiên tai ghi riêng, không ghi đè tuân thủ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58064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service (có license) tính travel time — KHÔNG phải tối ưu tuyến tự động (option).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KẾ HOẠCH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bám khung RFP — go-live 2027-06-01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2103120" cy="274320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92024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5272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269748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2026-10-05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38328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động &amp; yêu cầu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24328" y="3291840"/>
            <a:ext cx="146304" cy="36576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2194560"/>
            <a:ext cx="2103120" cy="274320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8728" y="1920240"/>
            <a:ext cx="566928" cy="566928"/>
          </a:xfrm>
          <a:prstGeom prst="ellipse">
            <a:avLst/>
          </a:prstGeom>
          <a:solidFill>
            <a:srgbClr val="3AAFD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3872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62072" y="269748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design · 8 tuần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338328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bất biến, state, kiến trúc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10328" y="3291840"/>
            <a:ext cx="146304" cy="36576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4920" y="2194560"/>
            <a:ext cx="2103120" cy="274320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4728" y="19202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2472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48072" y="269748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+ Test · 18 tuần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338328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P0→P1 + NFR workstream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96328" y="3291840"/>
            <a:ext cx="146304" cy="36576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60920" y="2194560"/>
            <a:ext cx="2103120" cy="274320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10728" y="1920240"/>
            <a:ext cx="566928" cy="56692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11072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34072" y="269748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Migration rehearsal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338328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+ đối soát dirty data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82328" y="3291840"/>
            <a:ext cx="146304" cy="365760"/>
          </a:xfrm>
          <a:prstGeom prst="rightArrow">
            <a:avLst/>
          </a:prstGeom>
          <a:solidFill>
            <a:srgbClr val="5A6B7B"/>
          </a:solidFill>
          <a:ln/>
        </p:spPr>
      </p:sp>
      <p:sp>
        <p:nvSpPr>
          <p:cNvPr id="28" name="Shape 26"/>
          <p:cNvSpPr/>
          <p:nvPr/>
        </p:nvSpPr>
        <p:spPr>
          <a:xfrm>
            <a:off x="9646920" y="2194560"/>
            <a:ext cx="2103120" cy="274320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96728" y="1920240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39672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269748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· 6 tuần + Cutover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756648" y="338328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cổng ACC + go/no-go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hình (S5-01 §4): PM · Solution Architect · BrSE · Cold-chain BA · Dev FE/BE · Test lead · Security/Data/Infra lead. Parallel-run: hệ cũ read-only 1 tuần đầu.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ƯỚC LƯỢNG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— 766 MD (base scope)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60604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627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766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32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tổng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1554480"/>
            <a:ext cx="260604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47288" y="1627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432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người-tháng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554480"/>
            <a:ext cx="260604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6208" y="1627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432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phủ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33688" y="1554480"/>
            <a:ext cx="260604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25128" y="1627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025128" y="2432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" y="3154680"/>
          <a:ext cx="7406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8183880" y="3154680"/>
            <a:ext cx="3429000" cy="3383280"/>
          </a:xfrm>
          <a:prstGeom prst="roundRect">
            <a:avLst>
              <a:gd name="adj" fmla="val 189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412480" y="3273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bản trước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365760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từ 524 → 766 MD do RFP đòi thêm: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@80 user, WCAG, BCP, observability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bất biến + maker-checker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2 rehearsal + 2.5M nhiệt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interface + archive manifest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CHI PHÍ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phí theo template S5-02 (giả định)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¥35.7M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(base)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0248" y="155448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6168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~¥46.7K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¥/MD bình quân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73568" y="155448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65008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≈6.07 tỷ₫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đổi (170₫/¥)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15468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2644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Một lần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24612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Build/test ¥33.1M · Migration ¥1.77M · Training+hypercare ¥0.83M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17880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2885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A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Định kỳ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270248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license (¥/user·tháng) · Cloud (tải 80 user) · Support SLA — đơn giá xác nhận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202936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5312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Option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5294376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logger · dự báo · GPS/SMS · cổng toàn quốc — KHÔNG cộng vào tổng cơ sở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nêu giả định (user=80 NFR-PERF-01, dataset NFR-PERF-02); thuế &amp; tiền tệ tách riêng; không dùng số làm tròn vô căn cứ (S5-02).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TEST · MIGRATION · VẬN HÀNH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Nghiệm thu, chuyển đổi &amp; hỗ trợ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892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cổng nghiệm thu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ACC-FUN/TEMP/DATE/SCH/TRC/MIG/NFR/GO; mỗi kết quả link requirement+fixture+log.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1928" y="160020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87452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5624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892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theo fixtures R-06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reversal, bò 9 số→review, FEFO đa lô, dirty migration, POD term, route bất khả thi.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133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2 rehearsal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source=accept+reject+duplicate, business sign-off; cutover RTO 4h + rollback.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1928" y="384048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11480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56248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4133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Hypercare 4 tuần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matrix, escalation, SLA report; dev/test/UAT/prod tách, mask data.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LÀM RÕ · RỦI RO · ĐIỀU KHOẢN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chặn báo giá &amp; rủi ro trọng yếu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760720" cy="4480560"/>
          </a:xfrm>
          <a:prstGeom prst="roundRect">
            <a:avLst>
              <a:gd name="adj" fmla="val 1429"/>
            </a:avLst>
          </a:prstGeom>
          <a:solidFill>
            <a:srgbClr val="FDF3F4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chặn báo giá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tả ERP SFTP/CSV (Q-01)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mapping service (Q-02)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IdP/OIDC + managed device (Q-03)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CSV logger + hash (Q-04)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vùng Nhật &amp; SLA (Q-05)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tệ/thuế/milestone (Q-06)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5120640" cy="4480560"/>
          </a:xfrm>
          <a:prstGeom prst="roundRect">
            <a:avLst>
              <a:gd name="adj" fmla="val 1429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6656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trọng yếu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'lỗi nghiêm trọng' S5-03 → đã kiểm soát trong thiết kế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đủ 88 yêu cầu (compliance matrix)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@80 user, trace≤60s, WCAG, BCP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dirty data + critical path 2027-06-01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IdP/mapping/ERP (Assumption)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Sẵn sàng đồng hành cùng Yuki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bám đúng 88 yêu cầu RFP, tuân thủ HACCP &amp; quy định logistics 2024, hướng tới go-live 2027-06-01.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 (Sun Asterisk) — Sun VN02 · PL: Thanh Ta · 2026-10-02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2708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Sun*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Sun Asterisk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Sun Asterisk - Sun VN02</dc:creator>
  <cp:lastModifiedBy>Sun Asterisk - Sun VN02</cp:lastModifiedBy>
  <cp:revision>1</cp:revision>
  <dcterms:created xsi:type="dcterms:W3CDTF">2026-10-02T16:57:25Z</dcterms:created>
  <dcterms:modified xsi:type="dcterms:W3CDTF">2026-10-02T16:57:25Z</dcterms:modified>
</cp:coreProperties>
</file>