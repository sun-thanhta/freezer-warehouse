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MD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Build màn hình</c:v>
                  </c:pt>
                  <c:pt idx="1">
                    <c:v>Engine</c:v>
                  </c:pt>
                  <c:pt idx="2">
                    <c:v>Thiết kế</c:v>
                  </c:pt>
                  <c:pt idx="3">
                    <c:v>Kiểm thử</c:v>
                  </c:pt>
                  <c:pt idx="4">
                    <c:v>Hạ tầng</c:v>
                  </c:pt>
                  <c:pt idx="5">
                    <c:v>PM/PMO</c:v>
                  </c:pt>
                  <c:pt idx="6">
                    <c:v>Dự phòng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203.5</c:v>
                </c:pt>
                <c:pt idx="1">
                  <c:v>97</c:v>
                </c:pt>
                <c:pt idx="2">
                  <c:v>48</c:v>
                </c:pt>
                <c:pt idx="3">
                  <c:v>52</c:v>
                </c:pt>
                <c:pt idx="4">
                  <c:v>14</c:v>
                </c:pt>
                <c:pt idx="5">
                  <c:v>62.2</c:v>
                </c:pt>
                <c:pt idx="6">
                  <c:v>47.7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A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 phí (¥tr)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PM/PMO</c:v>
                  </c:pt>
                  <c:pt idx="1">
                    <c:v>BrSE</c:v>
                  </c:pt>
                  <c:pt idx="2">
                    <c:v>BA/Comtor</c:v>
                  </c:pt>
                  <c:pt idx="3">
                    <c:v>Tech Lead</c:v>
                  </c:pt>
                  <c:pt idx="4">
                    <c:v>Developer</c:v>
                  </c:pt>
                  <c:pt idx="5">
                    <c:v>QA/Tester</c:v>
                  </c:pt>
                  <c:pt idx="6">
                    <c:v>Infra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3.78</c:v>
                </c:pt>
                <c:pt idx="1">
                  <c:v>2.6</c:v>
                </c:pt>
                <c:pt idx="2">
                  <c:v>2.12</c:v>
                </c:pt>
                <c:pt idx="3">
                  <c:v>2.6</c:v>
                </c:pt>
                <c:pt idx="4">
                  <c:v>8.81</c:v>
                </c:pt>
                <c:pt idx="5">
                  <c:v>2.79</c:v>
                </c:pt>
                <c:pt idx="6">
                  <c:v>1.18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A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đầu: giới thiệu gói đề xuất YCCMS cho Yuki. Hai sức ép: HACCP (6/2021) và vấn đề logistics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Hai áp lực là lý do dự án: HACCP cần ghi chép tuân thủ; 2024 cần lập lịch có ràng buộc giờ lái.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chứng tỏ hiểu sâu nghiệp vụ Nhật và tránh các bẫy đọc-hiểu — đây là giá trị tư vấn của Sun*.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Phạm vi v1 rõ ràng; các hạng mục nặng đẩy sang Phase 2 để kiểm soát chi phí và tiến độ.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nhóm chức năng, 59 feature, 43 màn hình. 5 nhóm cốt lõi là nơi tập trung giá trị &amp; effort.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Luồng lõi 5 bước; chốt kiểm soát FIFO/日付逆転/1-3/nhiệt độ được tự động hóa.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ba bẫy đọc-hiểu lớn nhất; giải pháp bám đúng bản chất pháp lý &amp; tập quán.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Điểm nhấn 2024: engine kiểm ràng buộc giờ lái. Routing optimization tách Phase 2 (tránh scope creep).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trụ tuân thủ: HACCP, nhiệt độ, truy xuất — chung nền audit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Nhóm 43 màn hình theo chủ đề; danh sách chi tiết trong workbook (sheet 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524 MD cho Phase 1 (Must+Should). Chi tiết công thức trong workbook sheet 06; Phase 2 tách riêng.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 phí ¥23.9M theo đội hình offshore; đơn giá là giả định, xác nhận khi báo giá chính thức.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giai đoạn; mốc chính là go-live trước T12. Timeline chi tiết chốt sau khi làm rõ ngân sách (Q-08).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Rủi ro lớn nhất là nhóm đọc-hiểu nghiệp vụ và scope creep; đều có cách kiểm soát rõ ràng.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câu hỏi chặn báo giá; 4 bước tiếp theo đến khi ký duyệt.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Kết: mời khách sang bước họp làm rõ &amp; báo giá.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4114800" cy="4114800"/>
          </a:xfrm>
          <a:prstGeom prst="ellipse">
            <a:avLst/>
          </a:prstGeom>
          <a:solidFill>
            <a:srgbClr val="1323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A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GÓI ĐỀ XUẤT GIẢI PHÁP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thống quản lý chuỗi kho lạnh thực phẩm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Yuki Cold-Chain Management System (YCCMS)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2976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hàng: </a:t>
            </a:r>
            <a:pPr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ty CP Logistics Lạnh Yuki (株式会社ユキ冷蔵ロジスティクス)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vị đề xuất: </a:t>
            </a:r>
            <a:pPr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 (Sun Asterisk) — Sun VN02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PL: Thanh Ta   ·   2026-10-02   ·   v1.0 (LAB-1)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Yuki đang chịu hai sức ép quy định cùng lúc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Excel + phần mềm kho cũ không còn đáp ứng. Hai quy định dưới đây buộc phải thay đổi công cụ vận hành.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240280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86968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892808" y="22860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HACCP bắt buộc (từ 6/2021)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29184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 Vệ sinh thực phẩm (食品衛生法) sửa đổi — hoàn toàn bắt buộc từ tháng 6/2021. Cần hệ thống hỗ trợ GHI CHÉP &amp; LƯU VẾT tuân thủ: nhật ký nhiệt độ, CCP, vệ sinh.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81928" y="192024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01968" y="2240280"/>
            <a:ext cx="822960" cy="8229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601968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607808" y="22860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物流2024年問題 (từ 4/2024)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647688" y="329184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giờ làm thêm tài xế 960h/năm + 改善基準告示 sửa đổi (拘束時間, 連続運転時間, nghỉ). Lịch giao cũ không còn khả thi — cần LẬP LỊCH có ràng buộc giờ lái.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NGHIỆP VỤ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Chúng tôi hiểu các điểm đặc thù của nghiệp vụ Yuki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27048" y="1874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dải nhiệt TỰ công bố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Thường/Mát/Đông — ngưỡng theo công bố của Yuki, không theo chuẩn chung → hệ thống cấu hình được.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1688" y="16002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874520"/>
            <a:ext cx="566928" cy="56692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1772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874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 loại hạn dùng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5146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賞味期限 (ngon nhất) ≠ 消費期限 (tiêu thụ an toàn) — xử lý &amp; cảnh báo khác nhau theo SKU.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6448" y="16002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874520"/>
            <a:ext cx="566928" cy="56692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1248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116568" y="1874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日付逆転禁止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5146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giao lô hạn cũ hơn lô đã giao trước cho CÙNG khách — so theo LỊCH SỬ từng khách, không so với hôm nay.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8862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160520"/>
            <a:ext cx="566928" cy="56692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27048" y="4160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 tắc 1/3 – 1/2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8006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三分の一ルール là TẬP QUÁN thương mại (納品/販売期限), KHÔNG phải hạn dùng thực.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61688" y="38862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160520"/>
            <a:ext cx="566928" cy="56692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61772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321808" y="4160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Truy xuất có chọn lọc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8006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buộc theo luật chỉ với GẠO &amp; THỊT BÒ; mặt hàng khác khuyến khích → không over-engineer.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56448" y="38862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160520"/>
            <a:ext cx="566928" cy="56692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41248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116568" y="4160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Ràng buộc giờ lái 2024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48006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lịch phải kiểm 960h/năm, 拘束時間, 連続運転時間 — điểm dễ bị bỏ sót.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&amp; PHẠM VI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Phạm vi hệ thống đề xuất (v1)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577840" cy="4572000"/>
          </a:xfrm>
          <a:prstGeom prst="roundRect">
            <a:avLst>
              <a:gd name="adj" fmla="val 1600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Trong phạm vi (In scope)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kho 3 dải nhiệt &amp; vị trí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kho &amp; kiểm hàng (nhiệt/lô/hạn)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kho FIFO + chặn 日付逆転 + cảnh báo 1/3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lịch giao ràng buộc giờ lái 2024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sát nhiệt độ chuỗi lạnh (CSV logger)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chép &amp; báo cáo tuân thủ HACCP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xuất nguồn gốc (gạo/bò bắt buộc)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vận hành &amp; quản trị, phân quyền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2940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Ngoài phạm vi (Out of scope)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33172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toán / nhân sự / tính lương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&amp; hệ thống bán hàng của retailer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Cung cấp phần cứng cảm biến/logger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tuyến tự động (routing) — tùy chọn Phase 2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EDI đầy đủ — tùy chọn Phase 2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handy-terminal/offline — tùy chọn Phase 2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chức năng — 14 nhóm chức năng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2651760" cy="987552"/>
          </a:xfrm>
          <a:prstGeom prst="roundRect">
            <a:avLst>
              <a:gd name="adj" fmla="val 5556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645920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F01 Master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645920"/>
            <a:ext cx="2651760" cy="987552"/>
          </a:xfrm>
          <a:prstGeom prst="roundRect">
            <a:avLst>
              <a:gd name="adj" fmla="val 5556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74720" y="1645920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F02 Kho 3 dải nhiệt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9632" y="1645920"/>
            <a:ext cx="2651760" cy="987552"/>
          </a:xfrm>
          <a:prstGeom prst="roundRect">
            <a:avLst>
              <a:gd name="adj" fmla="val 5556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291072" y="1645920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F03 Sản phẩm/Lô/Hạn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015984" y="1645920"/>
            <a:ext cx="2651760" cy="987552"/>
          </a:xfrm>
          <a:prstGeom prst="roundRect">
            <a:avLst>
              <a:gd name="adj" fmla="val 5556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07424" y="1645920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F04 Nhập kho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2816352"/>
            <a:ext cx="2651760" cy="987552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8368" y="2816352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F05 Xuất kho/FIFO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83280" y="2816352"/>
            <a:ext cx="2651760" cy="987552"/>
          </a:xfrm>
          <a:prstGeom prst="roundRect">
            <a:avLst>
              <a:gd name="adj" fmla="val 5556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474720" y="2816352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F06 Tồn kho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9632" y="2816352"/>
            <a:ext cx="2651760" cy="987552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291072" y="2816352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F07 Giám sát nhiệt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15984" y="2816352"/>
            <a:ext cx="2651760" cy="987552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107424" y="2816352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F08 HACCP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3986784"/>
            <a:ext cx="2651760" cy="987552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8368" y="3986784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F09 Truy xuất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83280" y="3986784"/>
            <a:ext cx="2651760" cy="987552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474720" y="3986784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F10 Lập lịch giao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99632" y="3986784"/>
            <a:ext cx="2651760" cy="987552"/>
          </a:xfrm>
          <a:prstGeom prst="roundRect">
            <a:avLst>
              <a:gd name="adj" fmla="val 5556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291072" y="3986784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F11 Khách &amp; lịch sử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015984" y="3986784"/>
            <a:ext cx="2651760" cy="987552"/>
          </a:xfrm>
          <a:prstGeom prst="roundRect">
            <a:avLst>
              <a:gd name="adj" fmla="val 5556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107424" y="3986784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 Báo cáo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6928" y="5157216"/>
            <a:ext cx="2651760" cy="987552"/>
          </a:xfrm>
          <a:prstGeom prst="roundRect">
            <a:avLst>
              <a:gd name="adj" fmla="val 5556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58368" y="5157216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F13 Quản trị/Phân quyền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383280" y="5157216"/>
            <a:ext cx="2651760" cy="987552"/>
          </a:xfrm>
          <a:prstGeom prst="roundRect">
            <a:avLst>
              <a:gd name="adj" fmla="val 5556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3474720" y="5157216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F14 Tích hợp/Import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400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Ô đậm = 5 nhóm chức năng cốt lõi tạo khác biệt cho Yuki (FIFO/日付逆転, lập lịch 2024, HACCP, truy xuất, giám sát nhiệt).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NGHIỆP VỤ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Luồng vận hành lõi &amp; chốt kiểm soát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1920240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23444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06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Nhập kho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3063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&amp; ghi nhiệt, lô, hạn (賞味/消費)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87752" y="2697480"/>
            <a:ext cx="182880" cy="457200"/>
          </a:xfrm>
          <a:prstGeom prst="rightArrow">
            <a:avLst/>
          </a:prstGeom>
          <a:solidFill>
            <a:srgbClr val="5A6B7B"/>
          </a:solidFill>
          <a:ln/>
        </p:spPr>
      </p:sp>
      <p:sp>
        <p:nvSpPr>
          <p:cNvPr id="10" name="Shape 8"/>
          <p:cNvSpPr/>
          <p:nvPr/>
        </p:nvSpPr>
        <p:spPr>
          <a:xfrm>
            <a:off x="2788920" y="210312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920240"/>
            <a:ext cx="566928" cy="566928"/>
          </a:xfrm>
          <a:prstGeom prst="ellipse">
            <a:avLst/>
          </a:prstGeom>
          <a:solidFill>
            <a:srgbClr val="3AAFD6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2044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2606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Lưu kho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898648" y="3063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 trí theo dải nhiệt; tồn theo lô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73752" y="2697480"/>
            <a:ext cx="182880" cy="457200"/>
          </a:xfrm>
          <a:prstGeom prst="rightArrow">
            <a:avLst/>
          </a:prstGeom>
          <a:solidFill>
            <a:srgbClr val="5A6B7B"/>
          </a:solidFill>
          <a:ln/>
        </p:spPr>
      </p:sp>
      <p:sp>
        <p:nvSpPr>
          <p:cNvPr id="16" name="Shape 14"/>
          <p:cNvSpPr/>
          <p:nvPr/>
        </p:nvSpPr>
        <p:spPr>
          <a:xfrm>
            <a:off x="5074920" y="210312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06440" y="192024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80644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2606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Xuất kho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184648" y="3063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· chặn 日付逆転 · cảnh báo 1/3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59752" y="2697480"/>
            <a:ext cx="182880" cy="457200"/>
          </a:xfrm>
          <a:prstGeom prst="rightArrow">
            <a:avLst/>
          </a:prstGeom>
          <a:solidFill>
            <a:srgbClr val="5A6B7B"/>
          </a:solidFill>
          <a:ln/>
        </p:spPr>
      </p:sp>
      <p:sp>
        <p:nvSpPr>
          <p:cNvPr id="22" name="Shape 20"/>
          <p:cNvSpPr/>
          <p:nvPr/>
        </p:nvSpPr>
        <p:spPr>
          <a:xfrm>
            <a:off x="7360920" y="210312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92440" y="1920240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09244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2606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Lập lịch giao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470648" y="3063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Ràng buộc giờ lái 2024 · gán xe/tài xế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445752" y="2697480"/>
            <a:ext cx="182880" cy="457200"/>
          </a:xfrm>
          <a:prstGeom prst="rightArrow">
            <a:avLst/>
          </a:prstGeom>
          <a:solidFill>
            <a:srgbClr val="5A6B7B"/>
          </a:solidFill>
          <a:ln/>
        </p:spPr>
      </p:sp>
      <p:sp>
        <p:nvSpPr>
          <p:cNvPr id="28" name="Shape 26"/>
          <p:cNvSpPr/>
          <p:nvPr/>
        </p:nvSpPr>
        <p:spPr>
          <a:xfrm>
            <a:off x="9646920" y="210312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78440" y="1920240"/>
            <a:ext cx="566928" cy="56692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1037844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692640" y="2606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Giao &amp; lưu vết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756648" y="3063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nhiệt khi giao · POD · truy xuất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" y="425196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chốt kiểm soát tự động (không còn phụ thuộc trí nhớ nhân viên):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" y="48006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FIFO: gợi ý lô cận hạn trước, lệch phải có lý do.  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日付逆転: chặn theo lịch sử giao từng khách. 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1/3–1/2: cảnh báo (không chặn cứng) vì là tập quán ≠ hạn thực. 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Nhiệt độ: ghi &amp; so ngưỡng ở mọi khâu.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NHẤN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soát hạn dùng &amp; 日付逆転 — đúng bản chất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566160" cy="3749040"/>
          </a:xfrm>
          <a:prstGeom prst="roundRect">
            <a:avLst>
              <a:gd name="adj" fmla="val 205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11680"/>
            <a:ext cx="640080" cy="64008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1248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biệt 2 loại hạn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theo SKU: 賞味期限 (best-before) vs 消費期限 (use-by). Ngưỡng cảnh báo cận hạn khác nhau; 消費期限 chặt hơn.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1688" y="1737360"/>
            <a:ext cx="3566160" cy="3749040"/>
          </a:xfrm>
          <a:prstGeom prst="roundRect">
            <a:avLst>
              <a:gd name="adj" fmla="val 205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6008" y="201168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36008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1/3 là tập quán, không phải hạn thực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56616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tính 納品期限 từ 賞味期限 theo cấu hình từng khách (1/3 hoặc 1/2) và CẢNH BÁO — không chặn cứng.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737360"/>
            <a:ext cx="3566160" cy="3749040"/>
          </a:xfrm>
          <a:prstGeom prst="roundRect">
            <a:avLst>
              <a:gd name="adj" fmla="val 205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0768" y="201168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30768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日付逆転 theo lịch sử khách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56616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giao, so hạn lô với lô gần nhất đã giao cho CHÍNH khách đó. Cũ hơn → chặn; ngoại lệ chỉ quản lý duyệt + audit log.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trị: loại bỏ nhóm sai sót tốn kém &amp; vi phạm pháp lý mà nhân viên hay mắc khi làm thủ công.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NHẤN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Lập lịch giao tuân thủ giới hạn giờ lái 2024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kiểm ràng buộc (ENG-02)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960h/năm — theo dõi giờ lái tích lũy từng tài xế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拘束時間 (giờ làm gồm chờ) theo ca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連続運転時間 (lái liên tục) &amp; thời gian nghỉ bắt buộc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&amp; CHẶN chốt lịch khi vi phạm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giờ lái còn lại của mỗi tài xế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Gán xe/tài xế khớp dải nhiệt &amp; tải trọng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cho Yuki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0" y="2514600"/>
            <a:ext cx="548640" cy="54864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8368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24963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Tuân thủ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880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không vi phạm luật 2024, có bằng chứng kiểm tra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3566160"/>
            <a:ext cx="548640" cy="54864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8368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35478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Chủ động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3931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Thấy trước xung đột nguồn lực để điều chỉnh sớm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4617720"/>
            <a:ext cx="548640" cy="54864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58368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45994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Hiệu quả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4983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Tận dụng xe/tài xế trong giới hạn cho phép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54864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vi v1: KIỂM TRA ràng buộc + gán tuyến thủ công. Tối ưu tuyến tự động là tùy chọn Phase 2.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NHẤN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HACCP · Giám sát chuỗi lạnh · Truy xuất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11680"/>
            <a:ext cx="640080" cy="64008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1248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HACCP số hóa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hóa CCP &amp; biểu mẫu; nhật ký không sửa sau khi chốt (lưu vết); xuất báo cáo tuân thủ theo kỳ.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1688" y="173736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6008" y="2011680"/>
            <a:ext cx="640080" cy="640080"/>
          </a:xfrm>
          <a:prstGeom prst="ellipse">
            <a:avLst/>
          </a:prstGeom>
          <a:solidFill>
            <a:srgbClr val="3AAFD6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36008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Giám sát nhiệt độ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33756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 từ data logger; dashboard theo khu/thời gian; cảnh báo &amp; nhật ký sự cố khi lệch ngưỡng.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6448" y="173736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0768" y="201168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30768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⟲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Truy xuất nguồn gốc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33756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vết xuôi/ngược một lô; báo cáo bắt buộc cho gạo &amp; thịt bò theo 米/牛トレーサビリティ法.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xuyên suốt làm nền cho cả HACCP và truy xuất — ai, khi nào, thay đổi gì.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 màn hình — đầu vào cho LAB-2/3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7393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Kho &amp; sản phẩm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1284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dải nhiệt · Chi tiết SKU (hạn/1-3/truy xuất) · Quản lý lô &amp; hạn · Tồn kho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81928" y="164592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56248" y="177393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Nhập – Xuất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56248" y="221284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Tạo/kiểm phiếu nhập · Lấy hàng FIFO &amp; kiểm tra giao · Phiếu xuất &amp; packing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127248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1248" y="325526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Chuỗi lạnh &amp; HACCP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694176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 nhiệt · Dashboard nhiệt · Ghi nhật ký HACCP · Báo cáo tuân thủ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81928" y="3127248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56248" y="325526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Giao hàng 2024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56248" y="3694176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lịch giao &amp; gán tuyến · Bảng kiểm ràng buộc giờ lái · Theo dõi &amp; POD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608576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1248" y="47365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Truy xuất &amp; khách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517550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vết xuôi/ngược · Báo cáo gạo/bò · Hồ sơ khách &amp; quy tắc riêng · Lịch sử giao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81928" y="4608576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56248" y="47365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Quản trị &amp; tích hợp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556248" y="517550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&amp; phân quyền · Audit log · Nhập đơn CSV/EDI · Trung tâm báo cáo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ƯỚC LƯỢNG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Ước lượng effort — 524 MD (Phase 1 v1)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62763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524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4871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tổng (Phase 1)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55848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47288" y="162763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~26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47288" y="24871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người-tháng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44768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36208" y="162763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236208" y="24871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33688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25128" y="162763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025128" y="24871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66928" y="3154680"/>
          <a:ext cx="7315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8138160" y="315468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36676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Cách ước lượng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366760" y="370332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hình: S/M/C = 2.5 / 4.5 / 9.0 MD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Engine: logic FIFO/日付逆転, lập lịch 2024, CSV nhiệt, truy xuất…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15% core, dự phòng 10%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(routing, EDI…) báo giá riêng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phí &amp; đội hình (giả định tham khảo)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62763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¥23.9M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4323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chi phí Phase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70248" y="155448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61688" y="162763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~45.5K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24323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¥/MD bình quân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73568" y="155448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65008" y="162763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≈4.06 tỷ₫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065008" y="24323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đổi (170₫/¥)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66928" y="3108960"/>
          <a:ext cx="74066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8183880" y="3108960"/>
            <a:ext cx="3429000" cy="3429000"/>
          </a:xfrm>
          <a:prstGeom prst="roundRect">
            <a:avLst>
              <a:gd name="adj" fmla="val 2133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41248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Đội hình đề xuất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365760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PM/PMO · BrSE (cầu nối JP)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BA/Comtor · Tech Lead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Developer (FE/BE)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QA/Tester · Infra (part)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giá &amp; tỉ giá là giả định — xác nhận khi báo giá.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Lộ trình triển khai đề xuất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45336" y="1874520"/>
            <a:ext cx="640080" cy="64008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545336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743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3108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Yêu cầu &amp; thiết kế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8862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yêu cầu, thiết kế cơ bản, DB &amp; màn hình tổng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91256" y="3291840"/>
            <a:ext cx="164592" cy="365760"/>
          </a:xfrm>
          <a:prstGeom prst="rightArrow">
            <a:avLst/>
          </a:prstGeom>
          <a:solidFill>
            <a:srgbClr val="5A6B7B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21945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61688" y="1874520"/>
            <a:ext cx="640080" cy="640080"/>
          </a:xfrm>
          <a:prstGeom prst="ellipse">
            <a:avLst/>
          </a:prstGeom>
          <a:solidFill>
            <a:srgbClr val="3AAFD6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361688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743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108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triển lõi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8862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Kho, nhập/xuất FIFO, hạn dùng, HACCP, giám sát nhiệt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07608" y="3291840"/>
            <a:ext cx="164592" cy="365760"/>
          </a:xfrm>
          <a:prstGeom prst="rightArrow">
            <a:avLst/>
          </a:prstGeom>
          <a:solidFill>
            <a:srgbClr val="5A6B7B"/>
          </a:solidFill>
          <a:ln/>
        </p:spPr>
      </p:sp>
      <p:sp>
        <p:nvSpPr>
          <p:cNvPr id="18" name="Shape 16"/>
          <p:cNvSpPr/>
          <p:nvPr/>
        </p:nvSpPr>
        <p:spPr>
          <a:xfrm>
            <a:off x="6199632" y="21945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7804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17804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91072" y="2743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36792" y="3108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Lập lịch 2024 &amp; truy xuất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38862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giờ lái, truy xuất gạo/bò, báo cáo tuân thủ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823960" y="3291840"/>
            <a:ext cx="164592" cy="365760"/>
          </a:xfrm>
          <a:prstGeom prst="rightArrow">
            <a:avLst/>
          </a:prstGeom>
          <a:solidFill>
            <a:srgbClr val="5A6B7B"/>
          </a:solidFill>
          <a:ln/>
        </p:spPr>
      </p:sp>
      <p:sp>
        <p:nvSpPr>
          <p:cNvPr id="25" name="Shape 23"/>
          <p:cNvSpPr/>
          <p:nvPr/>
        </p:nvSpPr>
        <p:spPr>
          <a:xfrm>
            <a:off x="9015984" y="21945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994392" y="1874520"/>
            <a:ext cx="640080" cy="64008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994392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107424" y="2743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153144" y="3108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thử, migration &amp; UAT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198864" y="38862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hệ thống, di trú dữ liệu, UAT, go-live trước T12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go-live TRƯỚC mùa cao điểm tháng 12. Có thể phân kỳ Phase 1/Phase 2 để kiểm soát rủi ro &amp; ngân sách.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Rủi ro trọng yếu &amp; cách kiểm soát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38928" y="1773936"/>
            <a:ext cx="685800" cy="384048"/>
          </a:xfrm>
          <a:prstGeom prst="roundRect">
            <a:avLst>
              <a:gd name="adj" fmla="val 23810"/>
            </a:avLst>
          </a:prstGeom>
          <a:solidFill>
            <a:srgbClr val="B23A4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138928" y="177393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17647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Áp quy tắc 1/3 như hạn thực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22199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thiểu: Tách tập quán (納品期限) vs hạn thực; 1/3 chỉ cảnh báo.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81928" y="164592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853928" y="1773936"/>
            <a:ext cx="685800" cy="384048"/>
          </a:xfrm>
          <a:prstGeom prst="roundRect">
            <a:avLst>
              <a:gd name="adj" fmla="val 23810"/>
            </a:avLst>
          </a:prstGeom>
          <a:solidFill>
            <a:srgbClr val="B23A4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853928" y="177393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56248" y="17647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Hiểu sai 日付逆転 (so hôm nay)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556248" y="222199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thiểu: Thiết kế theo lịch sử giao từng khách; test theo khách.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127248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38928" y="3255264"/>
            <a:ext cx="685800" cy="384048"/>
          </a:xfrm>
          <a:prstGeom prst="roundRect">
            <a:avLst>
              <a:gd name="adj" fmla="val 23810"/>
            </a:avLst>
          </a:prstGeom>
          <a:solidFill>
            <a:srgbClr val="B23A4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38928" y="32552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3246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creep: routing tự động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37033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thiểu: Chốt sớm; để routing ở Phase 2; ghi rõ giả định.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81928" y="3127248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853928" y="3255264"/>
            <a:ext cx="685800" cy="384048"/>
          </a:xfrm>
          <a:prstGeom prst="roundRect">
            <a:avLst>
              <a:gd name="adj" fmla="val 23810"/>
            </a:avLst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853928" y="32552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556248" y="3246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Tích hợp EDI/logger chưa rõ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556248" y="37033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thiểu: Mặc định CSV; làm rõ Q-02/Q-03; adapter linh hoạt.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608576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38928" y="4736592"/>
            <a:ext cx="685800" cy="384048"/>
          </a:xfrm>
          <a:prstGeom prst="roundRect">
            <a:avLst>
              <a:gd name="adj" fmla="val 23810"/>
            </a:avLst>
          </a:prstGeom>
          <a:solidFill>
            <a:srgbClr val="B23A4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138928" y="473659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" y="47274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Dữ liệu cũ bẩn / thiếu lịch sử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41248" y="518464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thiểu: Khảo sát sớm; công cụ làm sạch &amp; đối soát cùng khách.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81928" y="4608576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853928" y="4736592"/>
            <a:ext cx="685800" cy="384048"/>
          </a:xfrm>
          <a:prstGeom prst="roundRect">
            <a:avLst>
              <a:gd name="adj" fmla="val 23810"/>
            </a:avLst>
          </a:prstGeom>
          <a:solidFill>
            <a:srgbClr val="B23A4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853928" y="473659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556248" y="47274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Go-live đụng cao điểm T12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556248" y="518464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thiểu: Lên lịch trước T12; phân kỳ; kế hoạch rollback.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RÕ &amp; BƯỚC TIẾP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hỏi chặn báo giá &amp; bước tiếp theo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035040" cy="4389120"/>
          </a:xfrm>
          <a:prstGeom prst="roundRect">
            <a:avLst>
              <a:gd name="adj" fmla="val 1667"/>
            </a:avLst>
          </a:prstGeom>
          <a:solidFill>
            <a:srgbClr val="FDF3F4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Cần làm rõ trước khi chốt báo giá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5486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lịch: chỉ kiểm ràng buộc hay cần tối ưu tuyến? (Q-01)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Nhiệt độ: API hay CSV? mấy định dạng? (Q-02)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hàng: nhập tay/CSV hay EDI? (Q-03)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 tầng: cloud hay on-premise? (Q-04)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1/3 vs 1/2 theo từng khách? (Q-05)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trú dữ liệu &amp; lịch sử giao? (Q-07)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sách &amp; mốc go-live? (Q-08)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 kho &amp; nhu cầu offline? (Q-09)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12280" y="1691640"/>
            <a:ext cx="4800600" cy="4389120"/>
          </a:xfrm>
          <a:prstGeom prst="roundRect">
            <a:avLst>
              <a:gd name="adj" fmla="val 1667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086600" y="1920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tiếp theo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086600" y="251460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08660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514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Họp làm rõ các câu hỏi chặn báo giá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86600" y="338328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08660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3383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phạm vi Phase 1 &amp; giả định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86600" y="425196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08660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4251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giá &amp; kế hoạch chi tiết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86600" y="512064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086600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5120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Ký duyệt → khởi động dự án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65760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645920"/>
            <a:ext cx="4572000" cy="4572000"/>
          </a:xfrm>
          <a:prstGeom prst="ellipse">
            <a:avLst/>
          </a:prstGeom>
          <a:solidFill>
            <a:srgbClr val="1323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Quý công ty Yuki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 sẵn sàng đồng hành xây dựng hệ thống kho lạnh tuân thủ HACCP &amp; quy định logistics 2024.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 (Sun Asterisk) — Sun VN02   ·   PL: Thanh Ta   ·   2026-10-02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Sun Asterisk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Sun Asterisk - Sun VN02</dc:creator>
  <cp:lastModifiedBy>Sun Asterisk - Sun VN02</cp:lastModifiedBy>
  <cp:revision>1</cp:revision>
  <dcterms:created xsi:type="dcterms:W3CDTF">2026-10-02T15:44:23Z</dcterms:created>
  <dcterms:modified xsi:type="dcterms:W3CDTF">2026-10-02T15:44:23Z</dcterms:modified>
</cp:coreProperties>
</file>